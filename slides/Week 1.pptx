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7a4df8037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c7a4df8037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7a4df8037_3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7a4df8037_3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c7a4df8037_3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c7a4df8037_3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7a4df8037_3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7a4df8037_3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7a4df8037_3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c7a4df8037_3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c7a4df8037_3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c7a4df8037_3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c7a4df8037_3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c7a4df8037_3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c7a4df8037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c7a4df8037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c7a4df803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c7a4df803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c7a4df8037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c7a4df8037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c7a4df8037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c7a4df8037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c7a4df8037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c7a4df8037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c79bcf8bf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c79bcf8bf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7a4df8037_1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c7a4df8037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Week 1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 sz="5200"/>
              <a:t>Attention, Transformer and LLMs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The Transformer Architecture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r" sz="1200">
                <a:solidFill>
                  <a:schemeClr val="dk1"/>
                </a:solidFill>
              </a:rPr>
              <a:t>Encoder:</a:t>
            </a:r>
            <a:r>
              <a:rPr lang="tr" sz="1200">
                <a:solidFill>
                  <a:schemeClr val="dk1"/>
                </a:solidFill>
              </a:rPr>
              <a:t> Processes the entire input sequence simultaneously to build a rich understanding of the context.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r" sz="1200">
                <a:solidFill>
                  <a:schemeClr val="dk1"/>
                </a:solidFill>
              </a:rPr>
              <a:t>Decoder:</a:t>
            </a:r>
            <a:r>
              <a:rPr lang="tr" sz="1200">
                <a:solidFill>
                  <a:schemeClr val="dk1"/>
                </a:solidFill>
              </a:rPr>
              <a:t> Generates the output one step at a time, looking back at the Encoder's work to predict the next word.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r" sz="1200">
                <a:solidFill>
                  <a:schemeClr val="dk1"/>
                </a:solidFill>
              </a:rPr>
              <a:t>Multi-Head Attention:</a:t>
            </a:r>
            <a:r>
              <a:rPr lang="tr" sz="1200">
                <a:solidFill>
                  <a:schemeClr val="dk1"/>
                </a:solidFill>
              </a:rPr>
              <a:t> The core mechanism. It allows the model to focus on different parts of the sentence to understand relationships.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r" sz="1200">
                <a:solidFill>
                  <a:schemeClr val="dk1"/>
                </a:solidFill>
              </a:rPr>
              <a:t>Positional Encoding:</a:t>
            </a:r>
            <a:r>
              <a:rPr lang="tr" sz="1200">
                <a:solidFill>
                  <a:schemeClr val="dk1"/>
                </a:solidFill>
              </a:rPr>
              <a:t> Since the model processes words in parallel, this step adds mathematical tags to track the order of words.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r" sz="1200">
                <a:solidFill>
                  <a:schemeClr val="dk1"/>
                </a:solidFill>
              </a:rPr>
              <a:t>Feed Forward &amp; Add/Norm:</a:t>
            </a:r>
            <a:r>
              <a:rPr lang="tr" sz="1200">
                <a:solidFill>
                  <a:schemeClr val="dk1"/>
                </a:solidFill>
              </a:rPr>
              <a:t> Standard neural network layers that process the data and keep the math stable as the network gets deeper.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  <p:pic>
        <p:nvPicPr>
          <p:cNvPr id="67" name="Google Shape;67;p15" title="attention_research_1-727x10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2308" y="0"/>
            <a:ext cx="3651685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Attention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6" title="Attention-qkv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52481"/>
            <a:ext cx="9144000" cy="3976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LLM Inference Phases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r" sz="1700">
                <a:solidFill>
                  <a:schemeClr val="dk1"/>
                </a:solidFill>
              </a:rPr>
              <a:t>Prompt Phase (Parallel):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tr" sz="1700">
                <a:solidFill>
                  <a:schemeClr val="dk1"/>
                </a:solidFill>
              </a:rPr>
              <a:t>Processes the entire input prompt at once to predict the first token.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tr" sz="1700">
                <a:solidFill>
                  <a:schemeClr val="dk1"/>
                </a:solidFill>
              </a:rPr>
              <a:t>High Efficiency:</a:t>
            </a:r>
            <a:r>
              <a:rPr lang="tr" sz="1700">
                <a:solidFill>
                  <a:schemeClr val="dk1"/>
                </a:solidFill>
              </a:rPr>
              <a:t> Uses matrix-matrix operations to fully exploit GPU parallelism.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tr" sz="1700">
                <a:solidFill>
                  <a:schemeClr val="dk1"/>
                </a:solidFill>
              </a:rPr>
              <a:t>Generates the initial Key/Value vectors ($k_1...k_n$) for the sequence.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r" sz="1700">
                <a:solidFill>
                  <a:schemeClr val="dk1"/>
                </a:solidFill>
              </a:rPr>
              <a:t>Autoregressive Generation (Sequential):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tr" sz="1700">
                <a:solidFill>
                  <a:schemeClr val="dk1"/>
                </a:solidFill>
              </a:rPr>
              <a:t>Generates remaining tokens one-by-one, reusing cached Key/Value vectors.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tr" sz="1700">
                <a:solidFill>
                  <a:schemeClr val="dk1"/>
                </a:solidFill>
              </a:rPr>
              <a:t>Memory-Bound:</a:t>
            </a:r>
            <a:r>
              <a:rPr lang="tr" sz="1700">
                <a:solidFill>
                  <a:schemeClr val="dk1"/>
                </a:solidFill>
              </a:rPr>
              <a:t> Relies on less efficient matrix-vector multiplication due to sequential data dependencies.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tr" sz="1700">
                <a:solidFill>
                  <a:schemeClr val="dk1"/>
                </a:solidFill>
              </a:rPr>
              <a:t>Latency Bottleneck:</a:t>
            </a:r>
            <a:r>
              <a:rPr lang="tr" sz="1700">
                <a:solidFill>
                  <a:schemeClr val="dk1"/>
                </a:solidFill>
              </a:rPr>
              <a:t> Severely underutilizes GPU compute and causes the majority of request latency.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ORCA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ORCA Architecture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r" sz="1300">
                <a:solidFill>
                  <a:schemeClr val="dk1"/>
                </a:solidFill>
              </a:rPr>
              <a:t>Iteration-Level Scheduling:</a:t>
            </a:r>
            <a:r>
              <a:rPr lang="tr" sz="1300">
                <a:solidFill>
                  <a:schemeClr val="dk1"/>
                </a:solidFill>
              </a:rPr>
              <a:t> Schedules execution token-by-token rather than waiting for whole requests to finish. This allows new requests to join immediately and finished ones to leave instantly.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r" sz="1300">
                <a:solidFill>
                  <a:schemeClr val="dk1"/>
                </a:solidFill>
              </a:rPr>
              <a:t>Selective Batching:</a:t>
            </a:r>
            <a:r>
              <a:rPr lang="tr" sz="1300">
                <a:solidFill>
                  <a:schemeClr val="dk1"/>
                </a:solidFill>
              </a:rPr>
              <a:t> Applies batching to most operations (like Linear layers) but processes Attention individually. This handles requests in different phases without padding or waiting.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r" sz="1300">
                <a:solidFill>
                  <a:schemeClr val="dk1"/>
                </a:solidFill>
              </a:rPr>
              <a:t>Distributed Engine:</a:t>
            </a:r>
            <a:r>
              <a:rPr lang="tr" sz="1300">
                <a:solidFill>
                  <a:schemeClr val="dk1"/>
                </a:solidFill>
              </a:rPr>
              <a:t> Separates control (CPU) and data (GPU) planes to minimize synchronization overhead.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r" sz="1300">
                <a:solidFill>
                  <a:schemeClr val="dk1"/>
                </a:solidFill>
              </a:rPr>
              <a:t>Performance:</a:t>
            </a:r>
            <a:r>
              <a:rPr lang="tr" sz="1300">
                <a:solidFill>
                  <a:schemeClr val="dk1"/>
                </a:solidFill>
              </a:rPr>
              <a:t> Achieves </a:t>
            </a:r>
            <a:r>
              <a:rPr b="1" lang="tr" sz="1300">
                <a:solidFill>
                  <a:schemeClr val="dk1"/>
                </a:solidFill>
              </a:rPr>
              <a:t>36.9x higher throughput</a:t>
            </a:r>
            <a:r>
              <a:rPr lang="tr" sz="1300">
                <a:solidFill>
                  <a:schemeClr val="dk1"/>
                </a:solidFill>
              </a:rPr>
              <a:t> than NVIDIA FasterTransformer at the same latency.</a:t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92" name="Google Shape;9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4000" y="1579013"/>
            <a:ext cx="4527598" cy="25633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vLLM</a:t>
            </a:r>
            <a:endParaRPr/>
          </a:p>
        </p:txBody>
      </p:sp>
      <p:sp>
        <p:nvSpPr>
          <p:cNvPr id="98" name="Google Shape;98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/>
        </p:nvSpPr>
        <p:spPr>
          <a:xfrm>
            <a:off x="1013275" y="914150"/>
            <a:ext cx="7324500" cy="19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r" sz="3000">
                <a:solidFill>
                  <a:schemeClr val="dk1"/>
                </a:solidFill>
                <a:highlight>
                  <a:srgbClr val="FFFFFF"/>
                </a:highlight>
              </a:rPr>
              <a:t>The Problem: KV Cache Memory Waste</a:t>
            </a:r>
            <a:endParaRPr b="1" sz="3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200">
                <a:solidFill>
                  <a:srgbClr val="333333"/>
                </a:solidFill>
                <a:highlight>
                  <a:srgbClr val="FFFFFF"/>
                </a:highlight>
              </a:rPr>
              <a:t>During LLM inference, every generated token requires the </a:t>
            </a:r>
            <a:r>
              <a:rPr b="1" lang="tr" sz="1200">
                <a:solidFill>
                  <a:schemeClr val="dk1"/>
                </a:solidFill>
                <a:highlight>
                  <a:srgbClr val="FFFFFF"/>
                </a:highlight>
              </a:rPr>
              <a:t>Key</a:t>
            </a:r>
            <a:r>
              <a:rPr lang="tr" sz="1200">
                <a:solidFill>
                  <a:srgbClr val="333333"/>
                </a:solidFill>
                <a:highlight>
                  <a:srgbClr val="FFFFFF"/>
                </a:highlight>
              </a:rPr>
              <a:t> and </a:t>
            </a:r>
            <a:r>
              <a:rPr b="1" lang="tr" sz="1200">
                <a:solidFill>
                  <a:schemeClr val="dk1"/>
                </a:solidFill>
                <a:highlight>
                  <a:srgbClr val="FFFFFF"/>
                </a:highlight>
              </a:rPr>
              <a:t>Value</a:t>
            </a:r>
            <a:r>
              <a:rPr lang="tr" sz="1200">
                <a:solidFill>
                  <a:srgbClr val="333333"/>
                </a:solidFill>
                <a:highlight>
                  <a:srgbClr val="FFFFFF"/>
                </a:highlight>
              </a:rPr>
              <a:t> vectors of all previous tokens (KV Cache). Traditional systems pre-allocate a fixed contiguous block per request — leading to massive internal fragmentation.</a:t>
            </a:r>
            <a:endParaRPr sz="12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5275" y="152400"/>
            <a:ext cx="2537268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/>
        </p:nvSpPr>
        <p:spPr>
          <a:xfrm>
            <a:off x="1024300" y="1497900"/>
            <a:ext cx="7346400" cy="17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r" sz="3000">
                <a:solidFill>
                  <a:schemeClr val="dk1"/>
                </a:solidFill>
              </a:rPr>
              <a:t>The Solution: PagedAttention</a:t>
            </a:r>
            <a:endParaRPr b="1" sz="3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100">
                <a:solidFill>
                  <a:schemeClr val="dk1"/>
                </a:solidFill>
              </a:rPr>
              <a:t>Inspired by </a:t>
            </a:r>
            <a:r>
              <a:rPr b="1" lang="tr" sz="1100">
                <a:solidFill>
                  <a:schemeClr val="dk1"/>
                </a:solidFill>
              </a:rPr>
              <a:t>OS Virtual Memory</a:t>
            </a:r>
            <a:r>
              <a:rPr lang="tr" sz="1100">
                <a:solidFill>
                  <a:schemeClr val="dk1"/>
                </a:solidFill>
              </a:rPr>
              <a:t>, PagedAttention splits KV Cache into fixed-size </a:t>
            </a:r>
            <a:r>
              <a:rPr b="1" lang="tr" sz="1100">
                <a:solidFill>
                  <a:schemeClr val="dk1"/>
                </a:solidFill>
              </a:rPr>
              <a:t>pages</a:t>
            </a:r>
            <a:r>
              <a:rPr lang="tr" sz="1100">
                <a:solidFill>
                  <a:schemeClr val="dk1"/>
                </a:solidFill>
              </a:rPr>
              <a:t> (blocks). Pages can be </a:t>
            </a:r>
            <a:r>
              <a:rPr b="1" lang="tr" sz="1100">
                <a:solidFill>
                  <a:schemeClr val="dk1"/>
                </a:solidFill>
              </a:rPr>
              <a:t>non-contiguous</a:t>
            </a:r>
            <a:r>
              <a:rPr lang="tr" sz="1100">
                <a:solidFill>
                  <a:schemeClr val="dk1"/>
                </a:solidFill>
              </a:rPr>
              <a:t> in physical GPU memory — just like virtual memory pages in RAM.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49425"/>
            <a:ext cx="8839198" cy="26157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7525" y="152400"/>
            <a:ext cx="5616654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3487" y="0"/>
            <a:ext cx="5302875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4525" y="152400"/>
            <a:ext cx="6889887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